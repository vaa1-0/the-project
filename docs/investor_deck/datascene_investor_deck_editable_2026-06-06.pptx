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/ VAA1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Research-led multimodal intelligence for audiovisual collections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RESEARCH-LED MULTIMODAL INTELLIGENCE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Datascene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Turning audiovisual material into traceable knowledge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27432" cy="347472"/>
          </a:xfrm>
          <a:prstGeom prst="rect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3200400"/>
            <a:ext cx="59436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makes audiovisual material searchable, analyzable, and reusable without losing the path back to the original evidence.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458200" y="11430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B2233"/>
          </a:solidFill>
          <a:ln w="15240">
            <a:solidFill>
              <a:srgbClr val="4667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1352" y="1197864"/>
            <a:ext cx="1773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/ 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4709160"/>
            <a:ext cx="713232" cy="713232"/>
          </a:xfrm>
          <a:prstGeom prst="rect">
            <a:avLst/>
          </a:prstGeom>
          <a:solidFill>
            <a:srgbClr val="0B2233">
              <a:alpha val="92000"/>
            </a:srgbClr>
          </a:solidFill>
          <a:ln w="12700">
            <a:solidFill>
              <a:srgbClr val="4667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492861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4727448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Surname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783080" y="4956048"/>
            <a:ext cx="17830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/ research lead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83080" y="5175504"/>
            <a:ext cx="1783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F8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email@example.com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94760" y="4709160"/>
            <a:ext cx="713232" cy="713232"/>
          </a:xfrm>
          <a:prstGeom prst="rect">
            <a:avLst/>
          </a:prstGeom>
          <a:solidFill>
            <a:srgbClr val="0B2233">
              <a:alpha val="92000"/>
            </a:srgbClr>
          </a:solidFill>
          <a:ln w="12700">
            <a:solidFill>
              <a:srgbClr val="4667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4488" y="492861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4727448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Surname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663440" y="4956048"/>
            <a:ext cx="17830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lead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5175504"/>
            <a:ext cx="1783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F8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email@example.com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75120" y="4709160"/>
            <a:ext cx="713232" cy="713232"/>
          </a:xfrm>
          <a:prstGeom prst="rect">
            <a:avLst/>
          </a:prstGeom>
          <a:solidFill>
            <a:srgbClr val="0B2233">
              <a:alpha val="92000"/>
            </a:srgbClr>
          </a:solidFill>
          <a:ln w="12700">
            <a:solidFill>
              <a:srgbClr val="4667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492861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43800" y="4727448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Surname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543800" y="4956048"/>
            <a:ext cx="17830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/ partnerships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543800" y="5175504"/>
            <a:ext cx="1783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F8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email@example.com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/ VAA1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Research-led multimodal intelligence for audiovisual collections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914400" y="685800"/>
            <a:ext cx="27432" cy="384048"/>
          </a:xfrm>
          <a:prstGeom prst="rect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6583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40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Datascene 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is a research-led multimodal intelligence platform for audiovisual material.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05840" y="27432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798064"/>
            <a:ext cx="18653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Audiovisual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2633472"/>
            <a:ext cx="2194560" cy="1078992"/>
          </a:xfrm>
          <a:prstGeom prst="roundRect">
            <a:avLst>
              <a:gd name="adj" fmla="val 6780"/>
            </a:avLst>
          </a:prstGeom>
          <a:solidFill>
            <a:srgbClr val="2F8F8C"/>
          </a:solidFill>
          <a:ln w="15240">
            <a:solidFill>
              <a:srgbClr val="2F8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2688336"/>
            <a:ext cx="20482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27432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B66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2798064"/>
            <a:ext cx="20025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Source-linked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63240" y="3172968"/>
            <a:ext cx="1188720" cy="0"/>
          </a:xfrm>
          <a:prstGeom prst="line">
            <a:avLst/>
          </a:prstGeom>
          <a:noFill/>
          <a:ln w="19050">
            <a:solidFill>
              <a:srgbClr val="64778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29400" y="3172968"/>
            <a:ext cx="1280160" cy="0"/>
          </a:xfrm>
          <a:prstGeom prst="line">
            <a:avLst/>
          </a:prstGeom>
          <a:noFill/>
          <a:ln w="19050">
            <a:solidFill>
              <a:srgbClr val="64778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18704" y="3118104"/>
            <a:ext cx="109728" cy="109728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knowledge</a:t>
            </a:r>
            <a:endParaRPr lang="en-US" sz="1400" dirty="0"/>
          </a:p>
          <a:p>
            <a:r>
              <a:rPr lang="en-US" sz="140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evidence</a:t>
            </a:r>
            <a:endParaRPr lang="en-US" sz="1400" dirty="0"/>
          </a:p>
          <a:p>
            <a:r>
              <a:rPr lang="en-US" sz="140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research data</a:t>
            </a:r>
            <a:endParaRPr lang="en-US" sz="1400" dirty="0"/>
          </a:p>
          <a:p>
            <a:r>
              <a:rPr lang="en-US" sz="140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institutional memory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organizations possess more video than they can meaningfully use.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/ VAA1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Research-led multimodal intelligence for audiovisual collections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 DELIVERED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navigable evidence workspace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6446520" cy="4005072"/>
          </a:xfrm>
          <a:prstGeom prst="rect">
            <a:avLst/>
          </a:prstGeom>
          <a:solidFill>
            <a:srgbClr val="0B2233">
              <a:alpha val="92000"/>
            </a:srgbClr>
          </a:solidFill>
          <a:ln w="12700">
            <a:solidFill>
              <a:srgbClr val="466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346704"/>
            <a:ext cx="6227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VAA1 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video + transcript + evidence panels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97496" y="1655064"/>
            <a:ext cx="109728" cy="109728"/>
          </a:xfrm>
          <a:prstGeom prst="ellipse">
            <a:avLst/>
          </a:prstGeom>
          <a:solidFill>
            <a:srgbClr val="2F8F8C"/>
          </a:solidFill>
          <a:ln w="12700">
            <a:solidFill>
              <a:srgbClr val="2F8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53528" y="1572768"/>
            <a:ext cx="29260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video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53528" y="1828800"/>
            <a:ext cx="25603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callout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97496" y="2441448"/>
            <a:ext cx="109728" cy="109728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53528" y="2359152"/>
            <a:ext cx="29260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 and timing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53528" y="2615184"/>
            <a:ext cx="25603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callout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97496" y="3227832"/>
            <a:ext cx="109728" cy="109728"/>
          </a:xfrm>
          <a:prstGeom prst="ellipse">
            <a:avLst/>
          </a:prstGeom>
          <a:solidFill>
            <a:srgbClr val="2F8F8C"/>
          </a:solidFill>
          <a:ln w="12700">
            <a:solidFill>
              <a:srgbClr val="2F8F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3145536"/>
            <a:ext cx="29260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constellation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53528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callout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97496" y="4014216"/>
            <a:ext cx="109728" cy="109728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3528" y="3931920"/>
            <a:ext cx="29260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Human-confirmed knowledge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53528" y="4187952"/>
            <a:ext cx="25603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callout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" y="5687568"/>
            <a:ext cx="5943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brings video, transcript, metadata, annotation, and interpretation into one source-linked environment.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0" y="5559552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0B2233"/>
          </a:solidFill>
          <a:ln w="15240">
            <a:solidFill>
              <a:srgbClr val="B66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4032" y="5614416"/>
            <a:ext cx="40599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already delivers multimodal analysis without hallucinating away from the source.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/ VAA1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Research-led multimodal intelligence for audiovisual collections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27432" cy="384048"/>
          </a:xfrm>
          <a:prstGeom prst="rect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754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40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Datascene delivers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8686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customer segments, one shared problem: audiovisual collections and media environments are difficult to turn into usable, source-linked knowledge.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12354A"/>
          </a:solidFill>
          <a:ln w="15240">
            <a:solidFill>
              <a:srgbClr val="12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82496"/>
            <a:ext cx="22311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63240" y="1627632"/>
            <a:ext cx="3703320" cy="347472"/>
          </a:xfrm>
          <a:prstGeom prst="roundRect">
            <a:avLst>
              <a:gd name="adj" fmla="val 21053"/>
            </a:avLst>
          </a:prstGeom>
          <a:solidFill>
            <a:srgbClr val="12354A"/>
          </a:solidFill>
          <a:ln w="15240">
            <a:solidFill>
              <a:srgbClr val="1235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682496"/>
            <a:ext cx="35570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they lack today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1627632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2F8F8C"/>
          </a:solidFill>
          <a:ln w="15240">
            <a:solidFill>
              <a:srgbClr val="2F8F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85432" y="1682496"/>
            <a:ext cx="37856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Datascene delivers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103120"/>
            <a:ext cx="1013155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" y="2253996"/>
            <a:ext cx="64008" cy="64008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194560"/>
            <a:ext cx="2057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Archives and memory institutions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54680" y="2176272"/>
            <a:ext cx="349300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beyond basic metadata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903720" y="2176272"/>
            <a:ext cx="372160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video evidence and active institutional memory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40080" y="2798064"/>
            <a:ext cx="1013155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2668" y="2948940"/>
            <a:ext cx="64008" cy="64008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889504"/>
            <a:ext cx="2057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and universities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54680" y="2871216"/>
            <a:ext cx="349300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multimodal analysis with transparent evidence links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903720" y="2871216"/>
            <a:ext cx="372160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audiovisual datasets and source-linked interpretation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40080" y="3493008"/>
            <a:ext cx="1013155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" y="3643884"/>
            <a:ext cx="64008" cy="64008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3584448"/>
            <a:ext cx="2057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industries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54680" y="3566160"/>
            <a:ext cx="349300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of footage, themes, scenes, motifs, and production memory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903720" y="3566160"/>
            <a:ext cx="372160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production archives and story-development support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40080" y="4187952"/>
            <a:ext cx="1013155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" y="4338828"/>
            <a:ext cx="64008" cy="64008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4279392"/>
            <a:ext cx="2057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governance organizations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54680" y="4261104"/>
            <a:ext cx="349300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media spheres, disinformation dynamics, hybrid threats, and cross-border narratives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903720" y="4261104"/>
            <a:ext cx="372160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Source-linked situational understanding for policy, diplomacy, and public communication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40080" y="4882896"/>
            <a:ext cx="1013155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668" y="5033772"/>
            <a:ext cx="64008" cy="64008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" y="4974336"/>
            <a:ext cx="2057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enterprises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154680" y="4956048"/>
            <a:ext cx="349300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Interpreting strategic information environments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6903720" y="4956048"/>
            <a:ext cx="372160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intelligence for communication, risk, reputation, and information operations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914400" y="5806440"/>
            <a:ext cx="9144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EU-level disinformation work | foreign ministry media-sphere analysis | enterprise strategic information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/ VAA1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Research-led multimodal intelligence for audiovisual collections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27432" cy="384048"/>
          </a:xfrm>
          <a:prstGeom prst="rect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93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40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Datascene serves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is relevant wherever audiovisual material becomes evidence, knowledge, or institutional memory.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17720" y="27432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2F8F8C"/>
          </a:solidFill>
          <a:ln w="15240">
            <a:solidFill>
              <a:srgbClr val="2F8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2798064"/>
            <a:ext cx="18196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source-linked audiovisual knowledge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94767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2440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" y="1892808"/>
            <a:ext cx="0" cy="411480"/>
          </a:xfrm>
          <a:prstGeom prst="line">
            <a:avLst/>
          </a:prstGeom>
          <a:noFill/>
          <a:ln w="15240">
            <a:solidFill>
              <a:srgbClr val="2440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2039112"/>
            <a:ext cx="201168" cy="0"/>
          </a:xfrm>
          <a:prstGeom prst="line">
            <a:avLst/>
          </a:prstGeom>
          <a:noFill/>
          <a:ln w="15240">
            <a:solidFill>
              <a:srgbClr val="2440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6464" y="1929384"/>
            <a:ext cx="7863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27632" y="2139696"/>
            <a:ext cx="3968496" cy="1078992"/>
          </a:xfrm>
          <a:prstGeom prst="line">
            <a:avLst/>
          </a:prstGeom>
          <a:noFill/>
          <a:ln w="8890">
            <a:solidFill>
              <a:srgbClr val="E2E8E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17720" y="150876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67335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2440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1748" y="1787652"/>
            <a:ext cx="82296" cy="82296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9784" y="1655064"/>
            <a:ext cx="7863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Journalism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30952" y="1865376"/>
            <a:ext cx="265176" cy="1353312"/>
          </a:xfrm>
          <a:prstGeom prst="line">
            <a:avLst/>
          </a:prstGeom>
          <a:noFill/>
          <a:ln w="8890">
            <a:solidFill>
              <a:srgbClr val="E2E8E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178308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39328" y="194767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2440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3628" y="2061972"/>
            <a:ext cx="82296" cy="82296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41664" y="1929384"/>
            <a:ext cx="7863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governance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42832" y="2139696"/>
            <a:ext cx="-3346704" cy="1078992"/>
          </a:xfrm>
          <a:prstGeom prst="line">
            <a:avLst/>
          </a:prstGeom>
          <a:noFill/>
          <a:ln w="8890">
            <a:solidFill>
              <a:srgbClr val="E2E8E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148840" y="274320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58568" y="290779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2440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58568" y="3218688"/>
            <a:ext cx="347472" cy="0"/>
          </a:xfrm>
          <a:prstGeom prst="line">
            <a:avLst/>
          </a:prstGeom>
          <a:noFill/>
          <a:ln w="15240">
            <a:solidFill>
              <a:srgbClr val="2440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2980944"/>
            <a:ext cx="0" cy="228600"/>
          </a:xfrm>
          <a:prstGeom prst="line">
            <a:avLst/>
          </a:prstGeom>
          <a:noFill/>
          <a:ln w="15240">
            <a:solidFill>
              <a:srgbClr val="2440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41448" y="2980944"/>
            <a:ext cx="0" cy="228600"/>
          </a:xfrm>
          <a:prstGeom prst="line">
            <a:avLst/>
          </a:prstGeom>
          <a:noFill/>
          <a:ln w="15240">
            <a:solidFill>
              <a:srgbClr val="2440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60904" y="2889504"/>
            <a:ext cx="7863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62072" y="3099816"/>
            <a:ext cx="2734056" cy="118872"/>
          </a:xfrm>
          <a:prstGeom prst="line">
            <a:avLst/>
          </a:prstGeom>
          <a:noFill/>
          <a:ln w="8890">
            <a:solidFill>
              <a:srgbClr val="E2E8EC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635240" y="274320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44968" y="290779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2440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81544" y="2889504"/>
            <a:ext cx="274320" cy="310896"/>
          </a:xfrm>
          <a:prstGeom prst="arc">
            <a:avLst/>
          </a:prstGeom>
          <a:noFill/>
          <a:ln w="15240">
            <a:solidFill>
              <a:srgbClr val="2440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47304" y="2889504"/>
            <a:ext cx="7863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348472" y="3099816"/>
            <a:ext cx="-2752344" cy="118872"/>
          </a:xfrm>
          <a:prstGeom prst="line">
            <a:avLst/>
          </a:prstGeom>
          <a:noFill/>
          <a:ln w="8890">
            <a:solidFill>
              <a:srgbClr val="E2E8EC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4400" y="406908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4128" y="423367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24405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8428" y="4347972"/>
            <a:ext cx="82296" cy="82296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26464" y="4215384"/>
            <a:ext cx="7863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27632" y="4425696"/>
            <a:ext cx="3968496" cy="-1207008"/>
          </a:xfrm>
          <a:prstGeom prst="line">
            <a:avLst/>
          </a:prstGeom>
          <a:noFill/>
          <a:ln w="8890">
            <a:solidFill>
              <a:srgbClr val="E2E8EC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229600" y="406908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39328" y="423367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24405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75904" y="4215384"/>
            <a:ext cx="274320" cy="310896"/>
          </a:xfrm>
          <a:prstGeom prst="arc">
            <a:avLst/>
          </a:prstGeom>
          <a:noFill/>
          <a:ln w="15240">
            <a:solidFill>
              <a:srgbClr val="2440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41664" y="4215384"/>
            <a:ext cx="7863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Defence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942832" y="4425696"/>
            <a:ext cx="-3346704" cy="-1207008"/>
          </a:xfrm>
          <a:prstGeom prst="line">
            <a:avLst/>
          </a:prstGeom>
          <a:noFill/>
          <a:ln w="8890">
            <a:solidFill>
              <a:srgbClr val="E2E8E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148840" y="507492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58568" y="523951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24405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2868" y="5353812"/>
            <a:ext cx="82296" cy="82296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60904" y="5221224"/>
            <a:ext cx="7863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862072" y="5431536"/>
            <a:ext cx="2734056" cy="-2212848"/>
          </a:xfrm>
          <a:prstGeom prst="line">
            <a:avLst/>
          </a:prstGeom>
          <a:noFill/>
          <a:ln w="8890">
            <a:solidFill>
              <a:srgbClr val="E2E8EC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617720" y="534924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27448" y="551383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24405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1748" y="5628132"/>
            <a:ext cx="82296" cy="82296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9784" y="5495544"/>
            <a:ext cx="7863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intelligence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330952" y="5705856"/>
            <a:ext cx="265176" cy="-2487168"/>
          </a:xfrm>
          <a:prstGeom prst="line">
            <a:avLst/>
          </a:prstGeom>
          <a:noFill/>
          <a:ln w="8890">
            <a:solidFill>
              <a:srgbClr val="E2E8EC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635240" y="5074920"/>
            <a:ext cx="1417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44968" y="523951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24405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59268" y="5353812"/>
            <a:ext cx="82296" cy="82296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47304" y="5221224"/>
            <a:ext cx="7863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makers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348472" y="5431536"/>
            <a:ext cx="-2752344" cy="-2212848"/>
          </a:xfrm>
          <a:prstGeom prst="line">
            <a:avLst/>
          </a:prstGeom>
          <a:noFill/>
          <a:ln w="8890">
            <a:solidFill>
              <a:srgbClr val="E2E8EC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337560" y="598932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B66F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10712" y="6044184"/>
            <a:ext cx="44256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Institutions that need audiovisual material to become inspectable, trustworthy, and reusable.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/ VAA1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Research-led multimodal intelligence for audiovisual collections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DIRECTION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Datascene is going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67665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is being developed from a working analysis platform into broader audiovisual knowledge infrastructure.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2F8F8C"/>
          </a:solidFill>
          <a:ln w="15240">
            <a:solidFill>
              <a:srgbClr val="2F8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843784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core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source-linked multimodal understanding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17520" y="3273552"/>
            <a:ext cx="640080" cy="-1188720"/>
          </a:xfrm>
          <a:prstGeom prst="line">
            <a:avLst/>
          </a:prstGeom>
          <a:noFill/>
          <a:ln w="10160">
            <a:solidFill>
              <a:srgbClr val="6F879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94760" y="17373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B223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7912" y="1792224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search engine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758184" y="202996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3273552"/>
            <a:ext cx="3383280" cy="-1188720"/>
          </a:xfrm>
          <a:prstGeom prst="line">
            <a:avLst/>
          </a:prstGeom>
          <a:noFill/>
          <a:ln w="10160">
            <a:solidFill>
              <a:srgbClr val="6F879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37960" y="17373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B223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1792224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analysis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501384" y="202996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3273552"/>
            <a:ext cx="5943600" cy="-1188720"/>
          </a:xfrm>
          <a:prstGeom prst="line">
            <a:avLst/>
          </a:prstGeom>
          <a:noFill/>
          <a:ln w="10160">
            <a:solidFill>
              <a:srgbClr val="6F879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98280" y="17373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B223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792224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standalone units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9061704" y="202996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3273552"/>
            <a:ext cx="640080" cy="45720"/>
          </a:xfrm>
          <a:prstGeom prst="line">
            <a:avLst/>
          </a:prstGeom>
          <a:noFill/>
          <a:ln w="10160">
            <a:solidFill>
              <a:srgbClr val="6F879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94760" y="29718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B223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7912" y="3026664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EU-compliant cloud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3758184" y="326440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273552"/>
            <a:ext cx="3383280" cy="45720"/>
          </a:xfrm>
          <a:prstGeom prst="line">
            <a:avLst/>
          </a:prstGeom>
          <a:noFill/>
          <a:ln w="10160">
            <a:solidFill>
              <a:srgbClr val="6F879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37960" y="29718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B223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3026664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 implementations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501384" y="326440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3273552"/>
            <a:ext cx="5943600" cy="45720"/>
          </a:xfrm>
          <a:prstGeom prst="line">
            <a:avLst/>
          </a:prstGeom>
          <a:noFill/>
          <a:ln w="10160">
            <a:solidFill>
              <a:srgbClr val="6F8797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98280" y="29718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B2233"/>
          </a:solidFill>
          <a:ln w="15240">
            <a:solidFill>
              <a:srgbClr val="B66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1432" y="3026664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Situational cultures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9061704" y="3264408"/>
            <a:ext cx="73152" cy="73152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3273552"/>
            <a:ext cx="640080" cy="1280160"/>
          </a:xfrm>
          <a:prstGeom prst="line">
            <a:avLst/>
          </a:prstGeom>
          <a:noFill/>
          <a:ln w="10160">
            <a:solidFill>
              <a:srgbClr val="6F8797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794760" y="420624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B2233"/>
          </a:solidFill>
          <a:ln w="15240">
            <a:solidFill>
              <a:srgbClr val="B6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67912" y="4261104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human sciences skills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3758184" y="4498848"/>
            <a:ext cx="73152" cy="73152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3273552"/>
            <a:ext cx="3383280" cy="1280160"/>
          </a:xfrm>
          <a:prstGeom prst="line">
            <a:avLst/>
          </a:prstGeom>
          <a:noFill/>
          <a:ln w="10160">
            <a:solidFill>
              <a:srgbClr val="6F8797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537960" y="420624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B223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1112" y="4261104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Sector-specific spinoffs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501384" y="449884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3273552"/>
            <a:ext cx="5943600" cy="1280160"/>
          </a:xfrm>
          <a:prstGeom prst="line">
            <a:avLst/>
          </a:prstGeom>
          <a:noFill/>
          <a:ln w="10160">
            <a:solidFill>
              <a:srgbClr val="6F8797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098280" y="420624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0B223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71432" y="4261104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markets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9061704" y="449884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48840" y="5742432"/>
            <a:ext cx="6995160" cy="457200"/>
          </a:xfrm>
          <a:prstGeom prst="roundRect">
            <a:avLst>
              <a:gd name="adj" fmla="val 16000"/>
            </a:avLst>
          </a:prstGeom>
          <a:solidFill>
            <a:srgbClr val="0B2233"/>
          </a:solidFill>
          <a:ln w="15240">
            <a:solidFill>
              <a:srgbClr val="B66F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21992" y="5797296"/>
            <a:ext cx="68488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reusable core: source-linked multimodal understanding of audiovisual material.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/ VAA1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Research-led multimodal intelligence for audiovisual collections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27432" cy="384048"/>
          </a:xfrm>
          <a:prstGeom prst="rect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126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40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need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looking for the right people around the table, not generic acceleration.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457200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828800"/>
            <a:ext cx="457200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we need around the table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99632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the work needs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2651760"/>
            <a:ext cx="393192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infrastructure</a:t>
            </a:r>
            <a:endParaRPr lang="en-US" sz="1320" dirty="0"/>
          </a:p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technology</a:t>
            </a:r>
            <a:endParaRPr lang="en-US" sz="1320" dirty="0"/>
          </a:p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software</a:t>
            </a:r>
            <a:endParaRPr lang="en-US" sz="1320" dirty="0"/>
          </a:p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audiovisual archives</a:t>
            </a:r>
            <a:endParaRPr lang="en-US" sz="1320" dirty="0"/>
          </a:p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defensibility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199632" y="2651760"/>
            <a:ext cx="393192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continued development</a:t>
            </a:r>
            <a:endParaRPr lang="en-US" sz="1320" dirty="0"/>
          </a:p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hardening</a:t>
            </a:r>
            <a:endParaRPr lang="en-US" sz="1320" dirty="0"/>
          </a:p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collaborations</a:t>
            </a:r>
            <a:endParaRPr lang="en-US" sz="1320" dirty="0"/>
          </a:p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consulting and applied projects</a:t>
            </a:r>
            <a:endParaRPr lang="en-US" sz="1320" dirty="0"/>
          </a:p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readiness</a:t>
            </a:r>
            <a:endParaRPr lang="en-US" sz="1320" dirty="0"/>
          </a:p>
          <a:p>
            <a:r>
              <a:rPr lang="en-US" sz="1320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structuring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2011680" y="5742432"/>
            <a:ext cx="79552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6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5797296"/>
            <a:ext cx="7808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40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pilots. Research collaboration, consulting, applied work, and careful operational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 / VAA1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Research-led multimodal intelligence for audiovisual collections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Datascene turns audiovisual collections from passive storage into active knowledge infrastructure.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325880" y="320040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0B2233"/>
          </a:solidFill>
          <a:ln w="15240">
            <a:solidFill>
              <a:srgbClr val="6F87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9032" y="3255264"/>
            <a:ext cx="20025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Audiovisual material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3054096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2F8F8C"/>
          </a:solidFill>
          <a:ln w="15240">
            <a:solidFill>
              <a:srgbClr val="2F8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3108960"/>
            <a:ext cx="17282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Datascene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09560" y="32004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0B2233"/>
          </a:solidFill>
          <a:ln w="15240">
            <a:solidFill>
              <a:srgbClr val="B66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3255264"/>
            <a:ext cx="24140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institutional knowledge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3520440"/>
            <a:ext cx="914400" cy="0"/>
          </a:xfrm>
          <a:prstGeom prst="line">
            <a:avLst/>
          </a:prstGeom>
          <a:noFill/>
          <a:ln w="19050">
            <a:solidFill>
              <a:srgbClr val="D7E2E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37960" y="3520440"/>
            <a:ext cx="1188720" cy="0"/>
          </a:xfrm>
          <a:prstGeom prst="line">
            <a:avLst/>
          </a:prstGeom>
          <a:noFill/>
          <a:ln w="19050">
            <a:solidFill>
              <a:srgbClr val="D7E2E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95744" y="3465576"/>
            <a:ext cx="109728" cy="109728"/>
          </a:xfrm>
          <a:prstGeom prst="ellipse">
            <a:avLst/>
          </a:prstGeom>
          <a:solidFill>
            <a:srgbClr val="B66F3D"/>
          </a:solidFill>
          <a:ln w="12700">
            <a:solidFill>
              <a:srgbClr val="B6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4937760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exists now: a functioning multimodal analysis platform.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4937760"/>
            <a:ext cx="3566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 are going: a trusted infrastructure layer for audiovisual knowledge.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35240" y="4937760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need: strategic support to harden, focus, and scale carefully.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Datascene / VAA1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Datascene investor deck</dc:title>
  <dc:subject>Investor deck</dc:subject>
  <dc:creator>Datascene / VAA1</dc:creator>
  <cp:lastModifiedBy>Datascene / VAA1</cp:lastModifiedBy>
  <cp:revision>1</cp:revision>
  <dcterms:created xsi:type="dcterms:W3CDTF">2026-06-06T14:21:50Z</dcterms:created>
  <dcterms:modified xsi:type="dcterms:W3CDTF">2026-06-06T14:21:50Z</dcterms:modified>
</cp:coreProperties>
</file>